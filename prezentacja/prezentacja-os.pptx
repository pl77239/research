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365D"/>
                </a:solidFill>
              </a:defRPr>
            </a:pPr>
            <a:r>
              <a:t>Urządzenia I/O, magistrale</a:t>
            </a:r>
            <a:br/>
            <a:r>
              <a:t>i uruchamianie komputera</a:t>
            </a:r>
          </a:p>
          <a:p>
            <a:pPr algn="ctr">
              <a:spcBef>
                <a:spcPts val="1800"/>
              </a:spcBef>
              <a:defRPr sz="2200">
                <a:solidFill>
                  <a:srgbClr val="444444"/>
                </a:solidFill>
              </a:defRPr>
            </a:pPr>
            <a:r>
              <a:t>Systemy operacyjne · ok. 15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Plan prezentacji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Urządzenia wejścia-wyjścia — współpraca CPU ze sprzętem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Magistrale — łącza w systemie komputerowym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Uruchamianie komputera — od zasilania do jądra SO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Urządzenia wejścia-wyjścia (I/O)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Urządzenia zewnętrzne: klawiatura, dysk, sieć, drukarka…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CPU komunikuje się przez sterownik urządzenia (kontroler):</a:t>
            </a:r>
          </a:p>
          <a:p>
            <a:pPr lvl="1"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  rejestry stanu i sterowania, bufor lokalny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System operacyjny udostępnia urządzenia przez sterowniki i abstrakcje (pliki, gniazda)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365D"/>
                </a:solidFill>
              </a:defRPr>
            </a:pPr>
            <a:r>
              <a:t>Metody transferu danych I/O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8006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Metoda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Idea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Zastosowanie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Odpytywanie (polling)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CPU w pętli sprawdza gotowość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Proste, wolne urządzenia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Przerwania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Urządzenie sygnalizuje zakończenie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Klawiatura, mysz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Układ przenosi bloki RAM ↔ urządzenie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Dyski, sieć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Polling, przerwania, DMA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Polling — prosty, lecz marnuje cykle CPU (aktywne czekanie)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Przerwania — CPU wykonuje procedurę obsługi przerwania (ISR)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DMA — procesor inicjuje transfer; po bloku jedno przerwanie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Przerwania i spooling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Wiele przerwań: obsługa sekwencyjna, zagnieżdżona lub priorytetowa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Spooling — buforowanie strumienia na dysku (np. kolejka wydruków)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Powiązanie z SO: planowanie, kolejki urządzeń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Magistrala systemowa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Wspólne linie + logika sterująca + protokół wymiany danych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Łączy: CPU, pamięć RAM, kontrolery I/O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365D"/>
                </a:solidFill>
              </a:defRPr>
            </a:pPr>
            <a:r>
              <a:t>Trzy magistrale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8006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Magistrala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Funkcja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Adresowa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Adres w pamięci lub port I/O (n linii → 2^n adresów)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Danych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Przesyłane dane (np. 32/64 bitów na cykl)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Sterująca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READ/WRITE, zegar, reset, przerwania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Ewolucja magistral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Równoległe (PCI, AGP, ATA): crosstalk, clock skew przy wysokich częstotliwościach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Szeregowe punkt–punkt (PCIe, SATA, USB): wyższa przepustowość, full-duplex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Dziś dominują: PCI Express, SATA/M.2, USB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365D"/>
                </a:solidFill>
              </a:defRPr>
            </a:pPr>
            <a:r>
              <a:t>Wybrane standardy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8006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Typ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Zastosowanie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PCIe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Szeregowy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GPU, NVMe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SATA / M.2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Szeregowy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Dyski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USB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Szeregowy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Peryferia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Uruchamianie komputera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Bootstrapping: od włączenia zasilania do jądra systemu operacyjnego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Firmware na płycie głównej: BIOS (legacy) lub UEFI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365D"/>
                </a:solidFill>
              </a:defRPr>
            </a:pPr>
            <a:r>
              <a:t>BIOS a UEFI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8006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BIOS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UEFI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Partycje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MBR (~2 TB, 4 podst.)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GPT (&gt;2 TB)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Interfejs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Tekstowy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Graficzny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Bezpieczeństwo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Ograniczone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44444"/>
                          </a:solidFill>
                        </a:defRPr>
                      </a:pPr>
                      <a:r>
                        <a:t>Secure Boot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Etapy rozruchu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1. POST — test sprzętu (CPU, RAM, GPU…)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2. Wybór nośnika rozruchowego (MBR / EFI System)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3. Bootloader (GRUB, Windows Boot Manager)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4. Ładowanie jądra SO i sterowników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5. Usługi użytkownika — logowanie, pulpit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MBR i GPT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MBR: pierwszy sektor dysku (512 B), limit 2 TB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GPT: duże dyski, standard przy UEFI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Po załadowaniu jądra SO przejmuje procesy, pamięć i I/O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Podsumowanie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I/O: sterowniki; polling, przerwania, DMA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Magistrale: adres, dane, sterowanie; PCIe / USB / SATA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Start: POST → firmware → bootloader → jądro SO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Źródła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Materiał PDF: Architektura komputerów — I/O, magistrale i booting</a:t>
            </a:r>
          </a:p>
          <a:p>
            <a:pPr>
              <a:spcAft>
                <a:spcPts val="1000"/>
              </a:spcAft>
              <a:defRPr sz="2200">
                <a:solidFill>
                  <a:srgbClr val="444444"/>
                </a:solidFill>
              </a:defRPr>
            </a:pPr>
            <a:r>
              <a:t>A. Silberschatz, P. B. Galvin, G. Gagne — Systemy operacyjne, Wydanie V, PWN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365D"/>
                </a:solidFill>
              </a:defRPr>
            </a:pPr>
            <a:r>
              <a:t>Dziękuję za uwagę</a:t>
            </a:r>
          </a:p>
          <a:p>
            <a:pPr algn="ctr">
              <a:spcBef>
                <a:spcPts val="1800"/>
              </a:spcBef>
              <a:defRPr sz="2200">
                <a:solidFill>
                  <a:srgbClr val="444444"/>
                </a:solidFill>
              </a:defRPr>
            </a:pPr>
            <a:r>
              <a:t>Pytania?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