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</a:defRPr>
            </a:pPr>
            <a:r>
              <a:t>Urządzenia I/O, magistrale</a:t>
            </a:r>
            <a:br/>
            <a:r>
              <a:t>i uruchamianie komputera</a:t>
            </a:r>
          </a:p>
          <a:p>
            <a:pPr algn="ctr">
              <a:spcBef>
                <a:spcPts val="1600"/>
              </a:spcBef>
              <a:defRPr sz="2000">
                <a:solidFill>
                  <a:srgbClr val="555555"/>
                </a:solidFill>
              </a:defRPr>
            </a:pPr>
            <a:r>
              <a:t>Systemy operacyjne · wykład studencki · ok. 15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Po tej prezentacji powinieneś umieć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Wyjaśnić, jak procesor współpracuje z urządzeniami zewnętrznymi i po co jest warstwa OS.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Porównać odpytywanie, I/O sterowane przerwaniami oraz DMA — z przykładami zastosowań.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Opisać rolę magistral (adres, danych, sterowania) oraz różnicę PCI vs PCIe.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Prześledzić rozruch PC: POST → firmware → bootloader → jądro systemu operacyjnego.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Urządzenia I/O — po co systemowi operacyjnemu?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Programy użytkownika nie mówią bezpośrednio z dyskiem czy kartą sieciową — wołają system operacyjny (np. read(), write()).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SO ukrywa różnorodność sprzętu: ten sam interfejs pliku może stać za dyskiem SSD, pendrivem USB albo siecią.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Urządzenia są wolniejsze niż CPU i RAM — stąd cała architektura I/O: buforowanie, przerwania, DMA, kolejki.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Każde urządzenie ma kontroler (sterownik sprzętowy): logika, która wykonuje rozkazy procesora i zarządza samym urządzeniem.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Kontroler urządzenia i rejestry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Typowy interfejs (uproszczony): rejestr stanu (status), rejestr poleceń (command), rejestr danych (data).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OS (lub jądro) zapisuje polecenie, ewentualnie dane, a potem czeka na sygnał „gotowe” w rejestrze stanu.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Komunikacja odbywa się przez magistralę — te same linie łączą CPU z pamięcią i kontrolerami.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Dwa modele adresowania: port I/O (osobna przestrzeń portów) lub memory-mapped I/O (odczyt/zapis pod „adresem” urządzenia w mapie pamięci).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Odpytywanie (polling)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Procesor w pętli odczytuje rejestr stanu: „czy urządzenie skończyło?” — to aktywne czekanie (busy-wait).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Schemat: start operacji → while (STATUS == BUSY) → odczyt wyniku → powrót do aplikacji.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Zalety: prostota implementacji, przewidywalność — czasem w embedded lub bardzo szybkich urządzeniach.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Wady: marnowanie cykli CPU; ryzyko opóźnień lub utraty danych, jeśli CPU zajmie się czymś innym zbyt długo.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Dla wolnych urządzeń (drukarka, dysk) polling jest mało efektywny — stąd przerwania i DMA.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I/O sterowane przerwaniami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CPU wysyła polecenie do kontrolera, a potem przełącza się na inny proces zamiast kręcić pętlę oczekiwania.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Gdy urządzenie kończy pracę, podnosi linię IRQ — procesor po instrukcji sprawdza wektor przerwań i skacze do obsługi przerwania.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ISR (Interrupt Service Routine): krótki kod jądra — np. skopiowanie danych z bufora, odblokowanie procesu czekającego na I/O.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Koszt: zapis/odczyt rejestrów, zmiana kontekstu — opłaca się, gdy urządzenie pracuje „w tle” dłużej niż kilka instrukcji.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Przy wielu urządzeniach: priorytety przerwań, maskowanie, obsługa zagnieżdżona (ważne w jądrze SO).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DMA — bezpośredni dostęp do pamięci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DMA (Direct Memory Access): specjalny kontroler (lub logika w urządzeniu) przenosi bloki danych między RAM a buforem urządzenia bez udziału CPU w każdym bajcie.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Procesor programuje: adres źródła/docelowy, rozmiar transferu, kierunek — urządzenie staje się chwilowo masterem magistrali (arbitraż, „cycle stealing”).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Po zakończeniu bloku — jedno przerwanie zamiast tysięcy przy przesyłaniu sektoru dysku.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Typowe zastosowania: dyski, karty sieciowe, kopiowanie do GPU — wszędzie tam, gdzie przepustowość liczy się w MB/s.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Warianty: scatter/gather DMA (łańcuch buforów) — ważne przy sieci i dyskach.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Porównanie metod I/O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11155680" cy="1993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5029200"/>
              </a:tblGrid>
              <a:tr h="49834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Metoda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Obciążenie CPU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Kiedy stosować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9834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Polling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Wysokie — CPU czeka aktywnie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Proste sterowniki, bardzo szybkie urządzenia</a:t>
                      </a:r>
                    </a:p>
                  </a:txBody>
                  <a:tcPr/>
                </a:tc>
              </a:tr>
              <a:tr h="49834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Przerwania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Umiarkowane — ISR + kontekst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Klawiatura, mysz, timery, umiarkowane transfery</a:t>
                      </a:r>
                    </a:p>
                  </a:txBody>
                  <a:tcPr/>
                </a:tc>
              </a:tr>
              <a:tr h="498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Niskie — init + 1 przerwanie/blok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Dyski, audio wideo, sieć — duże bloki danych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Warstwa OS: kolejki, spooling, sterowniki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Sterownik urządzenia (driver) w jądrze tłumaczy ogólne żądania SO na operacje na rejestrach kontrolera.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Spooling — strumień wyników (np. wydruk) buforowany na dysku; proces „wysłał do drukarki” i idzie dalej, drukarka pracuje asynchronicznie.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SO planuje dostęp do współdzielonych urządzeń (kolejki I/O, scheduler dysku) — to most między sprzętem a abstrakcjami (pliki, gniazda).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Magistrala — definicja i rola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Magistrala to współdzielony (lub logiczny) kanał: przewody, protokół i sygnały, którymi CPU, pamięć i urządzenia wymieniają informacje.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W klasycznym modelu magistrala systemowa składa się z trzech funkcji: adres, dane, sterowanie — często mówimy o nich łącznie jako o „system bus”.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Szerokość magistrali danych (np. 64 bity) określa, ile bitów przenosi się w jednym cyklu; magistrala adresowa — ile pamięci da się zaadresować (2^n).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Magistrale wewnętrzne (CPU–chipset–RAM) vs zewnętrzne / rozszerzeń (PCIe, USB) — różna prędkość i topologia.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Przykład: odczyt z pamięci przez CPU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1. CPU wysyła adres komórki RAM na magistralę adresową.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2. Na magistrali sterującej pojawia się sygnał READ (odczyt).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3. Układ pamięci umieszcza zawartość komórki na magistrali danych.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4. CPU odbiera dane i kontynuuje wykonywanie programu.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Ten sam mechanizm (z innymi adresami) służy do memory-mapped I/O — zamiast RAM odpowiada kontroler urządzenia.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Magistrale: adres, danych, sterowania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365D"/>
                </a:solidFill>
              </a:defRPr>
            </a:pPr>
            <a:r>
              <a:t>Magistrala adresowa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Wskazuje lokalizację: RAM lub port I/O.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Szerokość → rozmiar adresowanej pamięci.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Przykład: 32 linie → do 4 GiB (2^32 bajtów).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0515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365D"/>
                </a:solidFill>
              </a:defRPr>
            </a:pPr>
            <a:r>
              <a:t>Magistrala danych i sterująca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Dane: instrukcje i operandy, odpowiedź z pamięci/I/O.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Sterowanie: READ/WRITE, zegar, reset, IRQ, arbitraż.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Razem tworzą spójny protokół transakcji na szynie.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Od wspólnej szyny równoległej do PCIe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PCI (lat 90.): wspólna magistrala równoległa — urządzenia dzielą linie adresu/danych; arbiter przydziela dostęp.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Przy wyższych częstotliwościach: clock skew (bity docierają nierówno) i crosstalk między przewodami — trudno skalować przepustowość.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PCI Express: nie wspólna szyna, lecz łącza punkt–punkt (drzewo: root complex → switch → urządzenia).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Dane w pakietach po liniach szeregowych (lane); ×4, ×8, ×16 mnoży przepustowość; full-duplex (nadawanie i odbiór równolegle).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USB — magistrala szeregowa dla peryferiów (hub, topologia drzewiasta); inna skala niż PCIe, podobna idea warstw protokołu.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PCI a PCI Express (skrót)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448056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Cecha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PCI (klasyczny)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PCI Express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Topologia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Współdzielona magistrala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Punkt–punkt, drzewo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Transmisja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Równoległa, wspólny zegar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Szeregowa, pakiety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Konflikty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Arbitraż masterów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Brak współdzielonej szyny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Typowe użycie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Starsze sloty (dziś rzadko)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GPU, NVMe, sieć PCIe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Uruchamianie komputera — wprowadzenie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Bootstrapping: od naciśnięcia przycisku power do momentu, gdy działające jądro SO przejmuje kontrolę nad sprzętem i procesami.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Na początku nie ma jeszcze „Windowsa/Linuxa” — tylko firmware w pamięci flash na płycie głównej (BIOS lub UEFI).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Firmware musi: przetestować sprzęt, znaleźć nośnik rozruchowy, wczytać bootloader, przekazać mu sterowanie.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Bootloader ładuje jądro (+ często initramfs), przekazuje parametry startowe — potem startuje właściwy system operacyjny.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POST — Power-On Self-Test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Tuż po zasileniu firmware uruchamia POST: szybka diagnostyka CPU, RAM, podstawowych kontrolerów, czasem GPU.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Błędy sygnalizowane kodami dźwiękowymi, komunikatami na ekranie lub kodami POST na płycie.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Celem jest upewnienie się, że platforma jest w stanie bezpiecznie wczytać kolejny etap (bootloader).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Nowoczesne CPU mają też wcześniejsze etapy inicjalizacji (microcode, trainning pamięci) — POST to warstwa widoczna użytkownikowi.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Ścieżka BIOS (legacy) vs UEFI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365D"/>
                </a:solidFill>
              </a:defRPr>
            </a:pPr>
            <a:r>
              <a:t>BIOS + MBR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0876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Firmware init sprzętu po POST.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Kolejność boot z ustawień BIOS.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Wczytanie pierwszych 512 B dysku (MBR).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Kod MBR → etap 2 bootloadera (np. GRUB).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Bootloader ładuje jądro z partycji.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0515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1A365D"/>
                </a:solidFill>
              </a:defRPr>
            </a:pPr>
            <a:r>
              <a:t>UEFI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3949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Init sprzętu; odczyt wpisów boot z NVRAM.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Partycja ESP (EFI System Partition).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Uruchomienie aplikacji EFI (shim, GRUB, stub jądra).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Opcjonalnie Secure Boot — weryfikacja podpisu.</a:t>
            </a:r>
          </a:p>
          <a:p>
            <a:pPr>
              <a:spcAft>
                <a:spcPts val="600"/>
              </a:spcAft>
              <a:defRPr sz="1700">
                <a:solidFill>
                  <a:srgbClr val="333333"/>
                </a:solidFill>
              </a:defRPr>
            </a:pPr>
            <a:r>
              <a:t>Po starcie jądra: ExitBootServices — koniec usług boot firmware.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Bootloader — trzy zadania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Znaleźć jądro na nośniku (plik typu vmlinuz, nt kernel) i wczytać do RAM.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Ustawić tryb procesora zgodny z oczekiwaniami jądra (np. long mode x86-64, tabele stronicowania jeśli wymagane).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Przekazać informacje, których jądro nie zdobędzie samo: mapa pamięci, wiersz poleceń, initramfs, ramdisk z sterownikami dysku/sieci.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Potem skok do punktu wejścia jądra — od tej chwili firmware (prawie) nie steruje maszyną.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Jądro systemu operacyjnego po starcie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Jądro ponownie wykrywa sprzęt, ładuje sterowniki (dysk, klawiatura, sieć…).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Montuje system plików root, uruchamia proces init (systemd itd.) — usługi, logowanie, pulpit.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Dopiero teraz w pełni działają abstrakcje SO omawiane przy I/O: pliki, procesy, scheduler, pamięć wirtualna.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Cały łańcuch POST → firmware → bootloader → kernel wyjaśnia, dlaczego błąd dysku rozruchowego zatrzymuje boot zanim wystartuje 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MBR a GPT — praktyczne różnice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09728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572000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MBR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GPT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Rozmiar dysku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Praktyczny limit ~2 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Dużo większe wolumeny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Partycje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 podstawowe (+ rozszerzona)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Wiele partycji (standard UEFI)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Typowy firmware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UEFI (+ często Secure Boot)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Rozruch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Sektor 512 B + kod bootloadera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Partycja ESP + aplikacje .efi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Podsumowanie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I/O: kontrolery + rejestry; polling / przerwania / DMA; sterowniki i kolejki w SO.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Magistrale: adres, dane, sterowanie; ewolucja od PCI do PCIe (pakiety, lane, punkt–punkt).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Boot: POST → BIOS/UEFI → bootloader → jądro → init użytkownika.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</a:defRPr>
            </a:pPr>
            <a:r>
              <a:t>Te trzy tematy łączą sprzęt z tym, co studiujesz w SO: urządzenia, wydajność I/O i moment, w którym OS przejmuje maszynę.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Bibliografia i źródła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Silberschatz A., Galvin P. B., Gagne G., Systemy operacyjne, Wydanie V, PWN — urządzenia I/O, struktura systemu.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Arpaci-Dusseau R., Arpaci-Dusseau A., Operating Systems: Three Easy Pieces (OSTEP), rozdz. o urządzeniach i I/O — https://pages.cs.wisc.edu/~remzi/OSTEP/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Cambridge University, Operating Systems — I/O Subsystems (materiały wykładowe) — https://www.cl.cam.ac.uk/teaching/2425/OpSystems/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Cornell CS 4410, Devices and I/O — https://www.cs.cornell.edu/courses/cs4410/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Arch boot process, ArchWiki — https://wiki.archlinux.org/title/Arch_boot_process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Red Hat, Boot, Init and Shutdown (RHEL documentation) — https://docs.redhat.com/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UEFI Forum, UEFI Specification — Boot Services / ExitBootServices — https://uefi.org/specifications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Computer Internals, PCI and PCI Express — https://www.computerinternals.app/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</a:defRPr>
            </a:pPr>
            <a:r>
              <a:t>Dziękuję za uwagę</a:t>
            </a:r>
          </a:p>
          <a:p>
            <a:pPr algn="ctr">
              <a:spcBef>
                <a:spcPts val="1600"/>
              </a:spcBef>
              <a:defRPr sz="2000">
                <a:solidFill>
                  <a:srgbClr val="555555"/>
                </a:solidFill>
              </a:defRPr>
            </a:pPr>
            <a:r>
              <a:t>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